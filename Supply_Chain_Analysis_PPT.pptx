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94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59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4BB5-F429-411D-45C5-2665CBD18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8E335-7F6E-C07B-69FE-F348E07D5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5284E-C8B2-70AB-3CB9-1135DF55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EAAC2-CCBA-AED8-1BD3-2E7A42A2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7047F-7B08-81DB-CA42-D487D5B7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4978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B61B-7A2A-79DD-1297-A45EE797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5125E-FAC3-7949-D4B5-6EEC3B0F6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EE61A-11EE-B7ED-E370-F603F8BC6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AD02-A83C-E996-6FFE-46BB9E85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21B56-D8CC-127E-308A-D098665E3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0384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F169-B4EB-40D2-1595-482D377E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D830A-8672-D02F-A39B-A56070684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910FF-23E6-7B27-CDAC-7514DE0E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C6941-5D23-108F-192F-4C1658F3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3B51-C79D-6F1F-9A86-005083DB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3252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FB48-F16F-8932-0BD1-8AF534C4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9C820-F4E4-2439-5ABE-670D4CBC2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C3CCD-52AD-740C-EAA2-13CEADBE0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487A3-D4CB-AFEB-C776-A7843A1A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E1924-369E-A9EC-CC28-FC4AEC0C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11C87-CC98-CC80-D5F5-DC3E46F5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9683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F9B6-3133-7314-E7FF-E8138AD1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A1ABF-F2DB-B885-31E1-0953477FC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5E1EA-3CAD-612E-540F-34C899F21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676C7-39EC-2676-021D-822CEC932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A6FC1-8CD1-A194-FE93-1D6AC2116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280004-E589-DCF7-4FD9-FB4D712B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7F896-74C5-7429-8B9F-DD161FFB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67BF4-F526-9481-EC55-65450D04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3074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1422-71F3-4DA1-75C4-26C4CC30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9B315-E458-E1E4-288A-DE245EC9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3A30B-7D3F-8441-6ADD-A808BD22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40BE1-266B-93EF-9E0B-0BCDC14D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8278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5DD2F-F4DB-1911-DDAD-A2496C79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45125-A7B0-5DA7-0A15-BE206E0FC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87290-2818-6CFF-22BC-8D13CACD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3582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C2B2-4A00-ACC6-5713-0BECDCB4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475CA-0551-48C9-922D-53CBC435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B5CF6-568F-6594-4C86-210CFAFDF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E8B6B-9127-5C4C-B305-DA3112E3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1C26C-A76E-4CF5-D758-4AB7877F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18645-B7C4-3C8A-87BF-2F659E6B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6181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7CA-18BC-C731-0E94-4682C7132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C06E4-2E4B-58DE-B3AD-609F68641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35500-D072-D26C-F57C-E3B98C275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93F55-F8C6-D297-921A-520ACD3B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53C5E-55AB-F7C0-D088-55C8839B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43E2C-04BF-86C2-70D4-6BEDA8C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0631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E860-3E2E-3D32-5AE7-23B0CEA0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B8B69-C1C9-4E1A-DB51-0943F9E47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E7CEB-2010-B0A0-06A5-9CBF195C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B709D-F068-3A85-1803-058BA35C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E9E4C-DEB7-A914-A54F-AEF5B88E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5064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1CE9E-B6F3-997B-6525-43E0B20B2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9D871-9E20-E9EE-ECFA-C011CDCDE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9F79-E35B-8D8F-664C-20C85D80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9AD9B-4A27-CCBC-1BDB-E5CE0288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C0C7B-F773-26B3-42BE-CF41F5E9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1459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52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6D1C6C-596B-718C-24FD-E94A6FB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2BD3B-D862-167B-6162-D124921B5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513E0-2418-7592-4E86-844F1FC3F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6AA29-EFC0-4617-A1F7-75737741E2A8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B90E1-F11D-BD9C-7BDD-A5EA66FE8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B690B-E833-5FD9-0E99-F0E8529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4309B-7969-4639-A9E2-1F6C4B16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6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-91440"/>
            <a:ext cx="3474720" cy="347472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CDACL-003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PPT</a:t>
            </a:r>
          </a:p>
          <a:p>
            <a:pPr marL="0" indent="0">
              <a:buNone/>
            </a:pP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Report &amp; Power BI Dashboard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Personal Care | 100 SKUs | 5 Cities | 5 Suppliers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251960"/>
            <a:ext cx="9144000" cy="8869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₹5,77,600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4700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46,099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51760" y="4700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₹52,924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4700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 Cost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4315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40880" y="4700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Defect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" y="118872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0352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1338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316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Dashboard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91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SKUs, 3 categories, 5 cities, KPI summary from Power BI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5192" y="118872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65192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1338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32120" y="1316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591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Skincare leads at 41.83% of total ₹5,77,600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" y="24871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43230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26151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Revenue &amp; SKU Count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8895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tops both revenue (₹158K) and SKU count (27)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304288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65192" y="24871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65192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43230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2120" y="26151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&amp; Products Sold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28895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 highest total lead time; Suppliers 1 &amp; 2 equal on units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602736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30352" y="378561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0352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37307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" y="3913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&amp; Location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41879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dominates skincare; Bangalore leads in haircare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602736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965192" y="378561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37307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32120" y="3913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Price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41879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costliest overall; Skincare commands highest price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Full 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Management 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3C2A13-4991-B064-6121-EF71A7A71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33" y="859536"/>
            <a:ext cx="6769448" cy="4146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463040"/>
            <a:ext cx="4846320" cy="2815046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394960" y="868680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394960" y="868680"/>
            <a:ext cx="34747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40680" y="960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₹5,77,600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40680" y="1353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181051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394960" y="1810512"/>
            <a:ext cx="347472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40680" y="19019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41.83%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40680" y="22951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Share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2752344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394960" y="2752344"/>
            <a:ext cx="34747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40680" y="28437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440680" y="32369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Share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94960" y="3694176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394960" y="3694176"/>
            <a:ext cx="34747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440680" y="37856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27.96%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440680" y="41788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Share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94960" y="4636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Skincare dominates with ₹2,41,630 — nearly 42% of all revenue. Cosmetics, despite 27.96% share, has the lowest manufacturing cost (₹43.05) offering the best margin opportunity.</a:t>
            </a: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C3FF23-47D2-D4A2-2EBD-9DC517CA4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4" y="1549773"/>
            <a:ext cx="4692891" cy="2629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Supplier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8463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dashboar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96112"/>
            <a:ext cx="457200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804672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0" y="914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Revenue Breakdown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0" y="1371600"/>
            <a:ext cx="320040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0" y="137160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371600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23760" y="1371600"/>
            <a:ext cx="731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₹158K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01000" y="1371600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1801368"/>
            <a:ext cx="32004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86400" y="18013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80136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223760" y="1801368"/>
            <a:ext cx="731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₹125K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01000" y="1801368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2231136"/>
            <a:ext cx="320040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86400" y="223113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52160" y="2231136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223760" y="2231136"/>
            <a:ext cx="731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₹110K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01000" y="2231136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0" y="2660904"/>
            <a:ext cx="32004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86400" y="266090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4️⃣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852160" y="2660904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223760" y="2660904"/>
            <a:ext cx="731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₹98K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001000" y="2660904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0" y="3090672"/>
            <a:ext cx="320040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86400" y="309067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5️⃣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852160" y="3090672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223760" y="3090672"/>
            <a:ext cx="731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₹86K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01000" y="3090672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94960" y="4315968"/>
            <a:ext cx="3474720" cy="548640"/>
          </a:xfrm>
          <a:prstGeom prst="roundRect">
            <a:avLst>
              <a:gd name="adj" fmla="val 11667"/>
            </a:avLst>
          </a:prstGeom>
          <a:solidFill>
            <a:srgbClr val="EFF6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532120" y="4361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generates 27.4% of all supplier revenue with only 27 SKUs — highest revenue efficiency.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Count by Supplier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8463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dashboard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96112"/>
            <a:ext cx="457200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841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Distribution Analysis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94960" y="1298448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0" y="13533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0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SKUs (27%)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0" y="157276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 in portfolio breadth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94960" y="1892808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0" y="19476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19476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SKUs (22%)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0" y="21671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 with broad offering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394960" y="2487168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0" y="25420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254203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SKUs (18%)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0" y="27614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3rd — niche specialist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394960" y="3081528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486400" y="31363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0" y="31363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SKUs (18%)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0" y="33558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3rd — equal portfolio size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394960" y="3675888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86400" y="3730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858000" y="37307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SKUs (15%)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0" y="395020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portfolio — focused range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&amp; Products Sold by Supplier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06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dashboard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86968"/>
            <a:ext cx="3977640" cy="2724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7673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Lead Time by Supplier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09160" y="804672"/>
            <a:ext cx="4206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709160" y="37673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 by Supplier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" y="41605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393192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41879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 — Highest Lead Time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44805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 time 408 days (most delayed). Despite this, it matches Supplier 1 in units sold (11.1K).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227832" y="41605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300984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85032" y="41879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1 &amp; 2 — Equal Sales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00984" y="44805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sold 11.1K units — top performers in volume. Supplier 1 does it with lower lead time (399).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35624" y="41605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208776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92824" y="41879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4 — Most Efficient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208776" y="44805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lead time (274) with 7.2K units sold. Best lead-time-to-sales efficiency among all.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DB057B-31D2-DDF6-BFB1-34D2DB092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886968"/>
            <a:ext cx="4055276" cy="27249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 &amp; Location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93914" y="1151161"/>
            <a:ext cx="5146766" cy="29629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577840" y="804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Revenue Highlights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234440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614416" y="139903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33872" y="13075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0" y="13075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137K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33872" y="15453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78K  HC: 35K  CO: 24K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77840" y="1892808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614416" y="205740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33872" y="19659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19659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137K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33872" y="22037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44K  HC: 44K  CO: 49K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577840" y="2551176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614416" y="271576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33872" y="26243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26243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119K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33872" y="28620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59K  HC: 29K  CO: 31K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577840" y="3209544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614416" y="337413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833872" y="328269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32826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103K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33872" y="35204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32K  HC: 52K  CO: 19K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77840" y="3867912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614416" y="4032504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833872" y="39410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39410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81K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833872" y="41788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SK: 29K  HC: 15K  CO: 37K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77840" y="4590288"/>
            <a:ext cx="3337560" cy="438912"/>
          </a:xfrm>
          <a:prstGeom prst="roundRect">
            <a:avLst>
              <a:gd name="adj" fmla="val 14583"/>
            </a:avLst>
          </a:prstGeom>
          <a:solidFill>
            <a:srgbClr val="EFF6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669280" y="462686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leads in Haircare (52K). Kolkata &amp; Mumbai tied for total revenue (137K each). Delhi needs attention.</a:t>
            </a:r>
            <a:endParaRPr lang="en-US" sz="8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17724DA-5030-AA40-E463-63DEE204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41948"/>
            <a:ext cx="4990011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by Supplier Across Locations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dashboard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86968"/>
            <a:ext cx="489204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04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1234440"/>
            <a:ext cx="33375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669280" y="12893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0" y="1289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₹15,521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15270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cost — Kolkata heavy (₹5,302)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77840" y="1856232"/>
            <a:ext cx="33375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669280" y="19110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0" y="191109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₹11,331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21488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in Bangalore (₹3,079) &amp; Delhi (₹3,162)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77840" y="2478024"/>
            <a:ext cx="33375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669280" y="25328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0" y="25328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₹9,648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27706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is biggest cost centre (₹3,085)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3099816"/>
            <a:ext cx="33375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69280" y="31546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31546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₹9,393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339242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spread across cities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77840" y="3721608"/>
            <a:ext cx="33375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669280" y="37764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37764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₹7,032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0" y="40142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— most cost-efficient supplier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438150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57200" y="44500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 chain cost: ₹52,924.58 | Supplier 1 alone accounts for 29.3% of total cost — review procurement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Supplier &amp; Product Type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dashboard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86968"/>
            <a:ext cx="489204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04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Pricing Insights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7840" y="1261872"/>
            <a:ext cx="3337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13350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07608" y="133502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— Skincare King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07608" y="159105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skincare price sum (₹898) — commands premium positioning in the market.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77840" y="2029968"/>
            <a:ext cx="3337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96128" y="210312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07608" y="21031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 — Haircare Leader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7608" y="235915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haircare price sum (₹553) — dominant in the haircare category.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77840" y="2798064"/>
            <a:ext cx="3337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596128" y="28712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💄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07608" y="28712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— Cosmetics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07608" y="31272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leads cosmetics pricing (₹484), making Supplier 1 the most versatile player.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3566160"/>
            <a:ext cx="3337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596128" y="36393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07608" y="36393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 — Low Cosmetics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07608" y="38953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₹24 in cosmetics — very limited presence. Risk of category dependency.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411480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41605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dominates pricing across all 3 categories. Supplier 3 is critically under-represented in cosmetics (₹24 vs avg ₹300+).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Comparison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Skincare vs Haircare vs Cosmetics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1455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🧴 Skincare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💆 Haircare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84FC"/>
                          </a:solidFill>
                        </a:rPr>
                        <a:t>💄 Cosmetics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Winner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SKU Count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34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26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Skincare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Revenue (₹)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2,41,630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1,74,460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1,61,520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Skincare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Revenue Share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41.83%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30.20%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27.96%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Skincare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Price (₹)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49.4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50.1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48.8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Haircare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Mfg Cost (₹)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48.99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48.46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43.05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Cosmetics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Defect Rate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2.34%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2.48%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1.92%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Cosmetics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Lead Time (days)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15.8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16.6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15.5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Cosmetics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Cosmetics is the efficiency champion (lowest cost + lowest defect). Skincare is the revenue engine. Scale both for maximum profitability.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2252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Skincare &amp; Cosmetics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= ₹2.41L revenue. Cosmetics = best margins (1.92% defect, ₹43 cost). Double investment in both.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5192" y="10332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65192" y="1033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02412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32120" y="12252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Supplier 1 &amp;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5087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leads revenue (₹158K) &amp; SKUs (27). Supplier 3 has lowest cost (₹7,032). Balance growth vs cost.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267712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" y="238658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37744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25786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Supplier 2 Delays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86207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 has highest total lead time (408 days). Renegotiate SLAs or introduce penalty clauses immediately.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267712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65192" y="238658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65192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37744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2120" y="25786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Delhi Market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286207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has the lowest revenue (₹81K) but strong cosmetics (₹37K). A targeted push can unlock ₹25K+ growth.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621024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30352" y="37398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0352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373075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" y="39319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Supplier 3 Portfolio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4215384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 has only ₹24 in cosmetics pricing. Expand their product range or bring in a specialist supplier.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621024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965192" y="37398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373075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32120" y="39319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Haircare Defect Rate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4215384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has the worst defect rate (2.48%). Implement tighter QC checkpoints and set a target of &lt;1.5%.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024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is the revenue engine — ₹2,41,630 (41.83%) with 40 SKUs. Expand and protect this segment.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is the efficiency champion — lowest defect rate (1.92%) and manufacturing cost (₹43). Ideal for margin improvement.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needs quality attention — highest defect rate (2.48%) and longest avg lead time (16.6 days).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26700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is the most valuable partner — top revenue (₹158K), top SKUs (27), highest price realization.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2186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 is the cost champion (₹7,032 total) but has a dangerously thin cosmetics portfolio (₹24 only).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37673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is the weakest geography (₹81K) — needs targeted expansion strategy.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38912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43159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 chain cost ₹52,924 with Supplier 2 carrying the heaviest lead time burden (408 days).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11680" y="4709160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11680" y="47091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CDACL-003 | Supply Chain Analytics | Beauty &amp; Personal Care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14713</TotalTime>
  <Words>1209</Words>
  <Application>Microsoft Office PowerPoint</Application>
  <PresentationFormat>On-screen Show (16:9)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Analysis Report - CDACL-003</dc:title>
  <dc:subject>PptxGenJS Presentation</dc:subject>
  <dc:creator>PptxGenJS</dc:creator>
  <cp:lastModifiedBy>SHASHIKANTH Y M</cp:lastModifiedBy>
  <cp:revision>7</cp:revision>
  <dcterms:created xsi:type="dcterms:W3CDTF">2026-06-24T07:29:34Z</dcterms:created>
  <dcterms:modified xsi:type="dcterms:W3CDTF">2026-07-09T13:52:00Z</dcterms:modified>
</cp:coreProperties>
</file>